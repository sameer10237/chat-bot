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146304"/>
            <a:ext cx="4279392" cy="6711696"/>
          </a:xfrm>
          <a:prstGeom prst="rect">
            <a:avLst/>
          </a:prstGeom>
          <a:solidFill>
            <a:srgbClr val="142A3F"/>
          </a:solidFill>
          <a:ln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286000" cy="2286000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9448" y="1618488"/>
            <a:ext cx="1152144" cy="1152144"/>
          </a:xfrm>
          <a:prstGeom prst="ellipse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5632" y="3913632"/>
            <a:ext cx="3063240" cy="109728"/>
          </a:xfrm>
          <a:prstGeom prst="rect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6858000" cy="1371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3400" b="1">
                <a:solidFill>
                  <a:srgbClr val="F7FAFC"/>
                </a:solidFill>
                <a:latin typeface="Aptos"/>
              </a:rPr>
              <a:t>SDIT AI CAMPUS
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6035040" cy="4572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200" b="0">
                <a:solidFill>
                  <a:srgbClr val="34D3DB"/>
                </a:solidFill>
                <a:latin typeface="Aptos"/>
              </a:rPr>
              <a:t>A grounded chatbot for student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852160" cy="34747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B1C4D1"/>
                </a:solidFill>
                <a:latin typeface="Aptos"/>
              </a:rPr>
              <a:t>Shree Devi Institute of Technology, Mangalore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603504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500" b="0">
                <a:solidFill>
                  <a:srgbClr val="F7FAFC"/>
                </a:solidFill>
                <a:latin typeface="Aptos"/>
              </a:rPr>
              <a:t>Built with Python, FastAPI, RAG and NVIDIA NIM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411480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200" b="0">
                <a:solidFill>
                  <a:srgbClr val="B1C4D1"/>
                </a:solidFill>
                <a:latin typeface="Aptos"/>
              </a:rPr>
              <a:t>Project presentation | 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1. The problem we wanted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572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34D3DB"/>
                </a:solidFill>
                <a:latin typeface="Aptos"/>
              </a:rPr>
              <a:t>Students repeatedly ask the same campus questions, but information is spread across many web pages.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84831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965960"/>
            <a:ext cx="9802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F7FAFC"/>
                </a:solidFill>
                <a:latin typeface="Aptos"/>
              </a:rPr>
              <a:t>Finding admissions, departments, facilities and placement information takes time.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15184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496312"/>
            <a:ext cx="9802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F7FAFC"/>
                </a:solidFill>
                <a:latin typeface="Aptos"/>
              </a:rPr>
              <a:t>A normal chatbot may guess when it does not know the answer.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45535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026663"/>
            <a:ext cx="9802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F7FAFC"/>
                </a:solidFill>
                <a:latin typeface="Aptos"/>
              </a:rPr>
              <a:t>The system must be useful even when an external AI API is unavailable.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75887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557015"/>
            <a:ext cx="9802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F7FAFC"/>
                </a:solidFill>
                <a:latin typeface="Aptos"/>
              </a:rPr>
              <a:t>Answers should be traceable to official SDIT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57800"/>
            <a:ext cx="10789920" cy="640080"/>
          </a:xfrm>
          <a:prstGeom prst="roundRect">
            <a:avLst/>
          </a:prstGeom>
          <a:solidFill>
            <a:srgbClr val="142A3F"/>
          </a:solidFill>
          <a:ln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58384"/>
            <a:ext cx="1024128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F7FAFC"/>
                </a:solidFill>
                <a:latin typeface="Aptos"/>
              </a:rPr>
              <a:t>Goal: provide quick, reliable and source-grounded answers in a simple chat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60704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B1C4D1"/>
                </a:solidFill>
                <a:latin typeface="Aptos"/>
              </a:rPr>
              <a:t>A two-layer assistant: retrieve trusted SDIT content first, then answer from that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691640" cy="114300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1472184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Student
question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816352"/>
            <a:ext cx="393192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2240280"/>
            <a:ext cx="1691640" cy="114300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423160"/>
            <a:ext cx="1472184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FastAPI
web app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2816352"/>
            <a:ext cx="393192" cy="0"/>
          </a:xfrm>
          <a:prstGeom prst="line">
            <a:avLst/>
          </a:prstGeom>
          <a:ln w="254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83480" y="2240280"/>
            <a:ext cx="1691640" cy="1143000"/>
          </a:xfrm>
          <a:prstGeom prst="roundRect">
            <a:avLst/>
          </a:prstGeom>
          <a:solidFill>
            <a:srgbClr val="142A3F"/>
          </a:solidFill>
          <a:ln>
            <a:solidFill>
              <a:srgbClr val="51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2423160"/>
            <a:ext cx="1472184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RAG
retrieval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816352"/>
            <a:ext cx="393192" cy="0"/>
          </a:xfrm>
          <a:prstGeom prst="line">
            <a:avLst/>
          </a:prstGeom>
          <a:ln w="25400">
            <a:solidFill>
              <a:srgbClr val="51BE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2240280"/>
            <a:ext cx="1691640" cy="114300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2423160"/>
            <a:ext cx="1472184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NVIDIA NIM
(optional)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23960" y="2816352"/>
            <a:ext cx="393192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60" y="2240280"/>
            <a:ext cx="1691640" cy="114300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423160"/>
            <a:ext cx="1472184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Grounded
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251960"/>
            <a:ext cx="9418320" cy="1051560"/>
          </a:xfrm>
          <a:prstGeom prst="roundRect">
            <a:avLst/>
          </a:prstGeom>
          <a:solidFill>
            <a:srgbClr val="142A3F"/>
          </a:solidFill>
          <a:ln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416552"/>
            <a:ext cx="8961120" cy="6858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100" b="1">
                <a:solidFill>
                  <a:srgbClr val="F7FAFC"/>
                </a:solidFill>
                <a:latin typeface="Aptos"/>
              </a:rPr>
              <a:t>If NVIDIA is configured: natural-language generation
If not configured or unavailable: local RAG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3. Knowledge and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69848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B1C4D1"/>
                </a:solidFill>
                <a:latin typeface="Aptos"/>
              </a:rPr>
              <a:t>Official SDIT website content is converted into structured data before the chatbot is used.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40"/>
            <a:ext cx="658368" cy="65836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658368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132588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Scrape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3456432"/>
            <a:ext cx="2057400" cy="5486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300" b="0">
                <a:solidFill>
                  <a:srgbClr val="B1C4D1"/>
                </a:solidFill>
                <a:latin typeface="Aptos"/>
              </a:rPr>
              <a:t>Collect SDIT pages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2148840"/>
            <a:ext cx="658368" cy="65836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249424"/>
            <a:ext cx="658368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63240"/>
            <a:ext cx="132588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456432"/>
            <a:ext cx="2057400" cy="5486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300" b="0">
                <a:solidFill>
                  <a:srgbClr val="B1C4D1"/>
                </a:solidFill>
                <a:latin typeface="Aptos"/>
              </a:rPr>
              <a:t>Organize sections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2148840"/>
            <a:ext cx="658368" cy="65836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249424"/>
            <a:ext cx="658368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063240"/>
            <a:ext cx="132588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456432"/>
            <a:ext cx="2057400" cy="5486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300" b="0">
                <a:solidFill>
                  <a:srgbClr val="B1C4D1"/>
                </a:solidFill>
                <a:latin typeface="Aptos"/>
              </a:rPr>
              <a:t>Create searchable passages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2148840"/>
            <a:ext cx="658368" cy="65836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249424"/>
            <a:ext cx="658368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63240"/>
            <a:ext cx="132588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456432"/>
            <a:ext cx="2057400" cy="5486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300" b="0">
                <a:solidFill>
                  <a:srgbClr val="B1C4D1"/>
                </a:solidFill>
                <a:latin typeface="Aptos"/>
              </a:rPr>
              <a:t>Find relevant Q&amp;A + chunks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0" y="2148840"/>
            <a:ext cx="658368" cy="65836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249424"/>
            <a:ext cx="658368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063240"/>
            <a:ext cx="132588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456432"/>
            <a:ext cx="2057400" cy="5486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300" b="0">
                <a:solidFill>
                  <a:srgbClr val="B1C4D1"/>
                </a:solidFill>
                <a:latin typeface="Aptos"/>
              </a:rPr>
              <a:t>Return with sources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2478024"/>
            <a:ext cx="960120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9039" y="2478024"/>
            <a:ext cx="960120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2478024"/>
            <a:ext cx="960120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12480" y="2478024"/>
            <a:ext cx="960120" cy="0"/>
          </a:xfrm>
          <a:prstGeom prst="line">
            <a:avLst/>
          </a:prstGeom>
          <a:ln w="25400">
            <a:solidFill>
              <a:srgbClr val="F79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754880"/>
            <a:ext cx="10241280" cy="731520"/>
          </a:xfrm>
          <a:prstGeom prst="roundRect">
            <a:avLst/>
          </a:prstGeom>
          <a:solidFill>
            <a:srgbClr val="142A3F"/>
          </a:solidFill>
          <a:ln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919472"/>
            <a:ext cx="996696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F7FAFC"/>
                </a:solidFill>
                <a:latin typeface="Aptos"/>
              </a:rPr>
              <a:t>Current dataset: 45 pages  |  296 knowledge chunks  |  240 multi-form Q&amp;A pairs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4. What happens when a user asks a question?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69848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34D3DB"/>
                </a:solidFill>
                <a:latin typeface="Aptos"/>
              </a:rPr>
              <a:t>Example: 'What is the eligibility criteria for Computer Science Engineering?'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508760" cy="132588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1362456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70048"/>
            <a:ext cx="1362456" cy="53035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B1C4D1"/>
                </a:solidFill>
                <a:latin typeface="Aptos"/>
              </a:rPr>
              <a:t>Validate question
and conversation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724912"/>
            <a:ext cx="393192" cy="0"/>
          </a:xfrm>
          <a:prstGeom prst="line">
            <a:avLst/>
          </a:prstGeom>
          <a:ln w="254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2057400"/>
            <a:ext cx="1508760" cy="132588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286000"/>
            <a:ext cx="1362456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670048"/>
            <a:ext cx="1362456" cy="53035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B1C4D1"/>
                </a:solidFill>
                <a:latin typeface="Aptos"/>
              </a:rPr>
              <a:t>Search Q&amp;A pairs
and RAG chunks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724912"/>
            <a:ext cx="393192" cy="0"/>
          </a:xfrm>
          <a:prstGeom prst="line">
            <a:avLst/>
          </a:prstGeom>
          <a:ln w="254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2057400"/>
            <a:ext cx="1508760" cy="132588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2286000"/>
            <a:ext cx="1362456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670048"/>
            <a:ext cx="1362456" cy="53035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B1C4D1"/>
                </a:solidFill>
                <a:latin typeface="Aptos"/>
              </a:rPr>
              <a:t>Build context only
from SDIT records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2724912"/>
            <a:ext cx="393192" cy="0"/>
          </a:xfrm>
          <a:prstGeom prst="line">
            <a:avLst/>
          </a:prstGeom>
          <a:ln w="254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2057400"/>
            <a:ext cx="1508760" cy="132588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2286000"/>
            <a:ext cx="1362456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670048"/>
            <a:ext cx="1362456" cy="53035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B1C4D1"/>
                </a:solidFill>
                <a:latin typeface="Aptos"/>
              </a:rPr>
              <a:t>NVIDIA model or
local fallback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40" y="2724912"/>
            <a:ext cx="393192" cy="0"/>
          </a:xfrm>
          <a:prstGeom prst="line">
            <a:avLst/>
          </a:prstGeom>
          <a:ln w="254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58400" y="2057400"/>
            <a:ext cx="1508760" cy="132588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286000"/>
            <a:ext cx="1362456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F7FAFC"/>
                </a:solidFill>
                <a:latin typeface="Aptos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2670048"/>
            <a:ext cx="1362456" cy="53035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B1C4D1"/>
                </a:solidFill>
                <a:latin typeface="Aptos"/>
              </a:rPr>
              <a:t>Answer + source
links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251960"/>
            <a:ext cx="10058400" cy="960120"/>
          </a:xfrm>
          <a:prstGeom prst="roundRect">
            <a:avLst/>
          </a:prstGeom>
          <a:solidFill>
            <a:srgbClr val="142A3F"/>
          </a:solidFill>
          <a:ln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462272"/>
            <a:ext cx="960120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900" b="1">
                <a:solidFill>
                  <a:srgbClr val="51BE85"/>
                </a:solidFill>
                <a:latin typeface="Aptos"/>
              </a:rPr>
              <a:t>Trust rule: when the knowledge base does not contain the answer, the bot says so instead of inventing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5.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63624"/>
            <a:ext cx="256032" cy="256032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39903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Grounded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3736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Uses official SDIT records and shows source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563624"/>
            <a:ext cx="256032" cy="256032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39903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Dual operating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73736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Works with NVIDIA NIM or local RAG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5176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51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2980944"/>
            <a:ext cx="256032" cy="256032"/>
          </a:xfrm>
          <a:prstGeom prst="ellipse">
            <a:avLst/>
          </a:prstGeom>
          <a:solidFill>
            <a:srgbClr val="51BE85"/>
          </a:solidFill>
          <a:ln>
            <a:solidFill>
              <a:srgbClr val="51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281635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Conversation 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Understands short follow-up questions using recent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5176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EB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2980944"/>
            <a:ext cx="256032" cy="256032"/>
          </a:xfrm>
          <a:prstGeom prst="ellipse">
            <a:avLst/>
          </a:prstGeom>
          <a:solidFill>
            <a:srgbClr val="EB6868"/>
          </a:solidFill>
          <a:ln>
            <a:solidFill>
              <a:srgbClr val="EB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281635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Safe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15468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Handles missing keys, provider errors and off-topic requests.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60" y="4398264"/>
            <a:ext cx="256032" cy="256032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1328" y="423367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Student-friendly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57200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Suggestions, markdown, copy, retry and loading states.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069080"/>
            <a:ext cx="4983480" cy="100584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4398264"/>
            <a:ext cx="256032" cy="256032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4233672"/>
            <a:ext cx="402336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CLI included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4572000"/>
            <a:ext cx="402336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B1C4D1"/>
                </a:solidFill>
                <a:latin typeface="Aptos"/>
              </a:rPr>
              <a:t>The same assistant can also run in the terminal.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6. Technology stack and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880360" cy="1234440"/>
          </a:xfrm>
          <a:prstGeom prst="roundRect">
            <a:avLst/>
          </a:prstGeom>
          <a:solidFill>
            <a:srgbClr val="142A3F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60604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900" b="1">
                <a:solidFill>
                  <a:srgbClr val="34D3DB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60604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400" b="0">
                <a:solidFill>
                  <a:srgbClr val="F7FAFC"/>
                </a:solidFill>
                <a:latin typeface="Aptos"/>
              </a:rPr>
              <a:t>HTML + CSS +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2880360" cy="1234440"/>
          </a:xfrm>
          <a:prstGeom prst="roundRect">
            <a:avLst/>
          </a:prstGeom>
          <a:solidFill>
            <a:srgbClr val="142A3F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27048"/>
            <a:ext cx="260604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900" b="1">
                <a:solidFill>
                  <a:srgbClr val="F7941E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01952"/>
            <a:ext cx="260604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400" b="0">
                <a:solidFill>
                  <a:srgbClr val="F7FAFC"/>
                </a:solidFill>
                <a:latin typeface="Aptos"/>
              </a:rPr>
              <a:t>Python + 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25880"/>
            <a:ext cx="2880360" cy="1234440"/>
          </a:xfrm>
          <a:prstGeom prst="roundRect">
            <a:avLst/>
          </a:prstGeom>
          <a:solidFill>
            <a:srgbClr val="142A3F"/>
          </a:solidFill>
          <a:ln>
            <a:solidFill>
              <a:srgbClr val="51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527048"/>
            <a:ext cx="260604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900" b="1">
                <a:solidFill>
                  <a:srgbClr val="51BE85"/>
                </a:solidFill>
                <a:latin typeface="Aptos"/>
              </a:rPr>
              <a:t>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01952"/>
            <a:ext cx="260604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1400" b="0">
                <a:solidFill>
                  <a:srgbClr val="F7FAFC"/>
                </a:solidFill>
                <a:latin typeface="Aptos"/>
              </a:rPr>
              <a:t>NVIDIA NIM + local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Aptos"/>
              </a:rPr>
              <a:t>Important files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22191"/>
            <a:ext cx="109728" cy="10972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703320"/>
            <a:ext cx="961948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app.py - web server and chat API endpoints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352544"/>
            <a:ext cx="109728" cy="10972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233672"/>
            <a:ext cx="961948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rag_engine.py - search, scoring and context retrieval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82896"/>
            <a:ext cx="109728" cy="10972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764024"/>
            <a:ext cx="961948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nvidia_client.py - model calls and fallback behavior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413247"/>
            <a:ext cx="109728" cy="109728"/>
          </a:xfrm>
          <a:prstGeom prst="ellipse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294375"/>
            <a:ext cx="961948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data/ - cleaned SDIT knowledge, chunks and Q&amp;A pairs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DB"/>
          </a:solidFill>
          <a:ln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7. Demo plan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65392"/>
            <a:ext cx="457200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B1C4D1"/>
                </a:solidFill>
                <a:latin typeface="Aptos"/>
              </a:rPr>
              <a:t>SDIT AI Campus Assistant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65392"/>
            <a:ext cx="3108960" cy="20116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0">
                <a:solidFill>
                  <a:srgbClr val="B1C4D1"/>
                </a:solidFill>
                <a:latin typeface="Aptos"/>
              </a:rPr>
              <a:t>5-minute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100" b="1">
                <a:solidFill>
                  <a:srgbClr val="34D3DB"/>
                </a:solidFill>
                <a:latin typeface="Aptos"/>
              </a:rPr>
              <a:t>A simple 5-minute live explanation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64792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645920"/>
            <a:ext cx="5230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1. Open the chatbot web page.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176272"/>
            <a:ext cx="5230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2. Ask an admissions or department question.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25496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706624"/>
            <a:ext cx="5230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3. Show the answer and its source links.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236976"/>
            <a:ext cx="5230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4. Ask an unsupported question to show safe fallback.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86200"/>
            <a:ext cx="109728" cy="109728"/>
          </a:xfrm>
          <a:prstGeom prst="ellipse">
            <a:avLst/>
          </a:prstGeom>
          <a:solidFill>
            <a:srgbClr val="F7941E"/>
          </a:solidFill>
          <a:ln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5230368" cy="39319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0">
                <a:solidFill>
                  <a:srgbClr val="F7FAFC"/>
                </a:solidFill>
                <a:latin typeface="Aptos"/>
              </a:rPr>
              <a:t>5. Explain that the system still works without the NVIDIA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234440"/>
            <a:ext cx="4160520" cy="3566160"/>
          </a:xfrm>
          <a:prstGeom prst="roundRect">
            <a:avLst/>
          </a:prstGeom>
          <a:solidFill>
            <a:srgbClr val="142A3F"/>
          </a:solidFill>
          <a:ln>
            <a:solidFill>
              <a:srgbClr val="51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600200"/>
            <a:ext cx="352044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000" b="1">
                <a:solidFill>
                  <a:srgbClr val="51BE85"/>
                </a:solidFill>
                <a:latin typeface="Aptos"/>
              </a:rPr>
              <a:t>Final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148840"/>
            <a:ext cx="3429000" cy="19659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200" b="1">
                <a:solidFill>
                  <a:srgbClr val="F7FAFC"/>
                </a:solidFill>
                <a:latin typeface="Aptos"/>
              </a:rPr>
              <a:t>This project combines
web scraping, retrieval,
large language models
and responsible fallback
into one useful campus assistant.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303520"/>
            <a:ext cx="283464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ctr"/>
            <a:r>
              <a:rPr sz="2500" b="1">
                <a:solidFill>
                  <a:srgbClr val="F7941E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